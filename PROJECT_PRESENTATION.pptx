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7401a890e14801" /><Relationship Type="http://schemas.openxmlformats.org/officeDocument/2006/relationships/extended-properties" Target="/docProps/app.xml" Id="R26ce5e41560a46d6" /><Relationship Type="http://schemas.openxmlformats.org/officeDocument/2006/relationships/officeDocument" Target="/ppt/presentation.xml" Id="Rd82efaef611742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206503a8cb4037"/>
  </p:sldMasterIdLst>
  <p:notesMasterIdLst>
    <p:notesMasterId xmlns:r="http://schemas.openxmlformats.org/officeDocument/2006/relationships" r:id="Rc8bd172edba24026"/>
  </p:notesMasterIdLst>
  <p:sldIdLst>
    <p:sldId xmlns:r="http://schemas.openxmlformats.org/officeDocument/2006/relationships" id="256" r:id="Rf3637df0089d44c4"/>
    <p:sldId xmlns:r="http://schemas.openxmlformats.org/officeDocument/2006/relationships" id="257" r:id="Rd48bc52312ae43a6"/>
    <p:sldId xmlns:r="http://schemas.openxmlformats.org/officeDocument/2006/relationships" id="258" r:id="Rf737816ae89c4e4f"/>
    <p:sldId xmlns:r="http://schemas.openxmlformats.org/officeDocument/2006/relationships" id="259" r:id="Rdd544097b03b4097"/>
    <p:sldId xmlns:r="http://schemas.openxmlformats.org/officeDocument/2006/relationships" id="260" r:id="R1d4f23109f0d4c03"/>
    <p:sldId xmlns:r="http://schemas.openxmlformats.org/officeDocument/2006/relationships" id="261" r:id="R8b253e57be3047c9"/>
    <p:sldId xmlns:r="http://schemas.openxmlformats.org/officeDocument/2006/relationships" id="262" r:id="Rf399b826524f4f9e"/>
    <p:sldId xmlns:r="http://schemas.openxmlformats.org/officeDocument/2006/relationships" id="263" r:id="R30918bd475c84bcd"/>
    <p:sldId xmlns:r="http://schemas.openxmlformats.org/officeDocument/2006/relationships" id="264" r:id="R8f567e7ea5b14544"/>
    <p:sldId xmlns:r="http://schemas.openxmlformats.org/officeDocument/2006/relationships" id="265" r:id="Refc8cdf8df6747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b486629d4b496b" /><Relationship Type="http://schemas.openxmlformats.org/officeDocument/2006/relationships/slideMaster" Target="/ppt/slideMasters/slideMaster1.xml" Id="Rb9206503a8cb4037" /><Relationship Type="http://schemas.openxmlformats.org/officeDocument/2006/relationships/notesMaster" Target="/ppt/notesMasters/notesMaster1.xml" Id="Rc8bd172edba24026" /><Relationship Type="http://schemas.openxmlformats.org/officeDocument/2006/relationships/presProps" Target="/ppt/presProps.xml" Id="R002a9c685f634369" /><Relationship Type="http://schemas.openxmlformats.org/officeDocument/2006/relationships/tableStyles" Target="/ppt/tableStyles.xml" Id="Re2abf62302f34164" /><Relationship Type="http://schemas.openxmlformats.org/officeDocument/2006/relationships/slide" Target="/ppt/slides/slide1.xml" Id="Rf3637df0089d44c4" /><Relationship Type="http://schemas.openxmlformats.org/officeDocument/2006/relationships/slide" Target="/ppt/slides/slide2.xml" Id="Rd48bc52312ae43a6" /><Relationship Type="http://schemas.openxmlformats.org/officeDocument/2006/relationships/slide" Target="/ppt/slides/slide3.xml" Id="Rf737816ae89c4e4f" /><Relationship Type="http://schemas.openxmlformats.org/officeDocument/2006/relationships/slide" Target="/ppt/slides/slide4.xml" Id="Rdd544097b03b4097" /><Relationship Type="http://schemas.openxmlformats.org/officeDocument/2006/relationships/slide" Target="/ppt/slides/slide5.xml" Id="R1d4f23109f0d4c03" /><Relationship Type="http://schemas.openxmlformats.org/officeDocument/2006/relationships/slide" Target="/ppt/slides/slide6.xml" Id="R8b253e57be3047c9" /><Relationship Type="http://schemas.openxmlformats.org/officeDocument/2006/relationships/slide" Target="/ppt/slides/slide7.xml" Id="Rf399b826524f4f9e" /><Relationship Type="http://schemas.openxmlformats.org/officeDocument/2006/relationships/slide" Target="/ppt/slides/slide8.xml" Id="R30918bd475c84bcd" /><Relationship Type="http://schemas.openxmlformats.org/officeDocument/2006/relationships/slide" Target="/ppt/slides/slide9.xml" Id="R8f567e7ea5b14544" /><Relationship Type="http://schemas.openxmlformats.org/officeDocument/2006/relationships/slide" Target="/ppt/slides/slide10.xml" Id="Refc8cdf8df6747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7d20b4236e41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874f383af745dc" /><Relationship Type="http://schemas.openxmlformats.org/officeDocument/2006/relationships/notesMaster" Target="/ppt/notesMasters/notesMaster1.xml" Id="Ra6d802a22eb847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3063d960d543df" /><Relationship Type="http://schemas.openxmlformats.org/officeDocument/2006/relationships/notesMaster" Target="/ppt/notesMasters/notesMaster1.xml" Id="R4440a90ac45341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e8d63507884dca" /><Relationship Type="http://schemas.openxmlformats.org/officeDocument/2006/relationships/notesMaster" Target="/ppt/notesMasters/notesMaster1.xml" Id="R68443da769ae40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9e205df0eb4b96" /><Relationship Type="http://schemas.openxmlformats.org/officeDocument/2006/relationships/notesMaster" Target="/ppt/notesMasters/notesMaster1.xml" Id="R6fc5e1d1e5154d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20d76fc90843a6" /><Relationship Type="http://schemas.openxmlformats.org/officeDocument/2006/relationships/notesMaster" Target="/ppt/notesMasters/notesMaster1.xml" Id="R97981ca5b60b47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83e5c814d14356" /><Relationship Type="http://schemas.openxmlformats.org/officeDocument/2006/relationships/notesMaster" Target="/ppt/notesMasters/notesMaster1.xml" Id="R755729cc0cde47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93d0fe03fe4766" /><Relationship Type="http://schemas.openxmlformats.org/officeDocument/2006/relationships/notesMaster" Target="/ppt/notesMasters/notesMaster1.xml" Id="Rd4fea361727646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631043d3cc4eb6" /><Relationship Type="http://schemas.openxmlformats.org/officeDocument/2006/relationships/notesMaster" Target="/ppt/notesMasters/notesMaster1.xml" Id="Rc72ae8f9a08746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b160a878ba48a5" /><Relationship Type="http://schemas.openxmlformats.org/officeDocument/2006/relationships/notesMaster" Target="/ppt/notesMasters/notesMaster1.xml" Id="R16a9c585916d45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4b8f34680147b7" /><Relationship Type="http://schemas.openxmlformats.org/officeDocument/2006/relationships/notesMaster" Target="/ppt/notesMasters/notesMaster1.xml" Id="R6130ff04b3cc44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PROJECT_PRESENTATION.md и актуальная реализация Nebula в репозитории. Вступление: Nebula объединяет подготовку, проведение и разбор интервью в одном desktop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проблема: интервьюер одновременно управляет разговором и оценкой. Это повышает риск потерянных деталей, непоследовательных баллов и решений без точных оснований.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Пользовательский путь: подготовка плана, запись, транскрипция, AI-предложения, ручное ревью и финализация. Связи между сущностями сохраняются на каждом этапе.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Nebula поддерживает dual_source и single_source. В single_source общая речь остаётся unknown, пока человек не подтвердит роль говорящего.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Цитата на слайде иллюстративная. В продукте EvidenceValidator проверяет точное присутствие цитаты, роль кандидата и актуальную ревизию. Речь интервьюера и unknown не используются как evidence кандидата.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генерирует AssessmentProposal. Интервьюер подтверждает или корректирует его. Итоговый score и coverage рассчитывает backend по детерминированной формуле.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 включает атомарный spool, checksum, идемпотентность чанков, lease фоновых задач и OCC. Terminal failure остаётся видимым пользователю и системе.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STT и LLM разрешаются независимо. API-ключи write-only и хранятся отдельно от SQLite. Worker применяет новую версию настроек без перезапуска. Конкретную пару provider/model проверяет probe.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Последняя полная локальная проверка 16 сентября 2026: Python, frontend и Rust проверки прошли; реальные RouterAI и PlusVibe probes прошли; физический dual-source Tauri capture на macOS завершился переходом интервью в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Финальный тезис: Nebula делает интервью более последовательным и проверяемым. Проект автоматизирует обработку, но не переносит ответственность за кадровое решение на модель.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c0456d19d45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be8734ab024fb2" /><Relationship Type="http://schemas.openxmlformats.org/officeDocument/2006/relationships/slideLayout" Target="/ppt/slideLayouts/slideLayout1.xml" Id="Rba5d5a7c75bf4a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5d5a7c75bf4a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07a98d61143e1" /><Relationship Type="http://schemas.openxmlformats.org/officeDocument/2006/relationships/image" Target="/ppt/media/image.png" Id="Rdb2d431751034cb2" /><Relationship Type="http://schemas.openxmlformats.org/officeDocument/2006/relationships/image" Target="/ppt/media/image.svg" Id="Rc6dfef261c7b4cf0" /><Relationship Type="http://schemas.openxmlformats.org/officeDocument/2006/relationships/notesSlide" Target="/ppt/notesSlides/notesSlide1.xml" Id="R06dfbdc5246a40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9ebd8ae58436d" /><Relationship Type="http://schemas.openxmlformats.org/officeDocument/2006/relationships/notesSlide" Target="/ppt/notesSlides/notesSlide2.xml" Id="R82cd6df3c61e40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2b48edbde4972" /><Relationship Type="http://schemas.openxmlformats.org/officeDocument/2006/relationships/notesSlide" Target="/ppt/notesSlides/notesSlide3.xml" Id="Rb304dc8a783042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99296fca54514" /><Relationship Type="http://schemas.openxmlformats.org/officeDocument/2006/relationships/notesSlide" Target="/ppt/notesSlides/notesSlide4.xml" Id="R6c272982502743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adb5995144f0d" /><Relationship Type="http://schemas.openxmlformats.org/officeDocument/2006/relationships/notesSlide" Target="/ppt/notesSlides/notesSlide5.xml" Id="Rf7f94c4792bc4f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d9ad98d334eea" /><Relationship Type="http://schemas.openxmlformats.org/officeDocument/2006/relationships/notesSlide" Target="/ppt/notesSlides/notesSlide6.xml" Id="R3d8a27f7e51c4f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5848057424d2b" /><Relationship Type="http://schemas.openxmlformats.org/officeDocument/2006/relationships/notesSlide" Target="/ppt/notesSlides/notesSlide7.xml" Id="R81b2592f52ba49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4bd11a4234929" /><Relationship Type="http://schemas.openxmlformats.org/officeDocument/2006/relationships/notesSlide" Target="/ppt/notesSlides/notesSlide8.xml" Id="R6c07558c56df42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e30a54e174e3e" /><Relationship Type="http://schemas.openxmlformats.org/officeDocument/2006/relationships/notesSlide" Target="/ppt/notesSlides/notesSlide9.xml" Id="R2f4221368c7a4c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9a32a87794bfa" /><Relationship Type="http://schemas.openxmlformats.org/officeDocument/2006/relationships/notesSlide" Target="/ppt/notesSlides/notesSlide10.xml" Id="Rd91ba9ba058948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d431751034cb2">
            <a:extLst>
              <a:ext uri="{96DAC541-7B7A-43D3-8B79-37D633B846F1}">
                <asvg:svgBlip xmlns:asvg="http://schemas.microsoft.com/office/drawing/2016/SVG/main" r:embed="Rc6dfef261c7b4c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647700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85A6D-1FE9-4A28-953B-579D34E7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85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Nebula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7B42B-B52C-4024-AD08-69E37CFC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AI Interview Decision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13E27-3C08-472F-A2A3-872C4360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733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Структурированные интервью. Проверяемые основания. Решение принимает человек.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B0B53-DBC2-4033-81FD-EFAF8A7F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013DB-4B34-46DB-8FDA-BECE07E0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23241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Интервью,</a:t>
            </a:r>
          </a:p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результат которого</a:t>
            </a:r>
          </a:p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можно объяснить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F3AB0-4AD1-4D9A-A501-2E0B8869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57700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883AD-7ABD-4C98-99FE-4A654215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8AA"/>
                </a:solidFill>
                <a:latin typeface="Helvetica Neue"/>
                <a:ea typeface="Helvetica Neue"/>
                <a:cs typeface="Helvetica Neue"/>
              </a:rPr>
              <a:t>Product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454485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08F04-F188-4A22-9BC8-C1EFFB0B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Интервью перегружает внимание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07DEB-E45B-4766-A611-F443BFB1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07155-C3D1-4447-BD1D-4F2E9FB6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Один человек ведёт разговор и одновременно должен сохранять качество оценки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32938-51A8-4AFF-8B77-7B97393B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714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4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4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DF99D-B1CD-45C8-84D1-1DF5ED83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задачи</a:t>
            </a:r>
          </a:p>
          <a:p xmlns:a="http://schemas.openxmlformats.org/drawingml/2006/main">
            <a:pPr>
              <a:defRPr sz="19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одновременно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D964F-368F-47BD-8F05-8E12DA12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478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DFD2B-956A-42D8-8CAB-DF567797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62EF0-3044-4DA8-BD61-42024BC1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716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Вести содержательный разговор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34A36-CC3A-42D1-AB71-4A3719D6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03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9B90E-7826-40B7-8974-A5251295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05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71D60-36FF-4A1D-82FC-9A4A9CA1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Следить за планом и критериями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F202B-6043-462D-A701-E3BF2466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956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A5285-E3E4-45CE-AA66-254732FB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0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9F44A-B45A-46B2-A531-8BDAD098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Находить уточняющие вопросы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37361-863B-47B2-89EE-CA7201C6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C761D-C88B-4B57-BFE0-468F3F57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95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34963B-F995-4725-AD7B-79B8A5F5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5770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Фиксировать доказательства оценки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E2D603-22AB-43D3-B277-5147BEE5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24500"/>
            <a:ext cx="66675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EC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5124CF-860F-4923-B9B4-4067791C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6769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rPr>
              <a:t>Память и свободные заметки не дают воспроизводимого решения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AC8C0A-6B40-4C49-A095-109226BA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A98A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3826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CDDD68-0ECE-4E8F-A77E-15CB5952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Единый процесс интервью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AE092-C7C7-4F0F-BB44-8A39506E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83F0C-A9B7-4DA0-B2FF-B11C2B90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Nebula связывает план, разговор, AI-рекомендации и финальный отчёт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432A7-D97A-425D-BB7C-3054F7DD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098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CF922-ABA0-4451-8967-1D4C4FAA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План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5AE97-F362-4438-BEE5-A4ABB3A5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Вопросы и</a:t>
            </a:r>
          </a:p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рубрики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3CDC2-44F2-4C65-BCAC-A3FC5A15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098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52ED6-9DE8-42BE-8207-7E05B46E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432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Запись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FF781-7609-4C28-867F-2964BA9C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38550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Два канала</a:t>
            </a:r>
          </a:p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или общий звук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12712-81D5-4666-B743-89930F40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098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DAA33-1362-4D39-8C21-D0E69B6E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Транскрипт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4452A-EFE3-4F04-9FA7-5F25FCCC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Роли и</a:t>
            </a:r>
          </a:p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временные метки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C64B6-8A13-4448-A90C-35833B3B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098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6E8F7-4C96-4CB0-9EE1-FA6EA2CD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AI-анализ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C6F14-66E7-4651-A69B-D65CC6BD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38550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Оценки и</a:t>
            </a:r>
          </a:p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follow-up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CB5E5-4C69-4705-8C24-06893BED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DD1E6-AB2A-4453-905B-32B2658B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432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Ревью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6C307-31C0-4705-86EC-F7933CD1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38550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Правки и</a:t>
            </a:r>
          </a:p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подтверждение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2C463-9ABC-4B2B-BCA4-5A317796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098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24E65-B381-4607-9222-C4C53F71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432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Отчёт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1E567B-13BF-4262-BD52-99C18C35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38550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Score, coverage</a:t>
            </a:r>
          </a:p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и summary</a:t>
            </a:r>
          </a:p>
        </p:txBody>
      </p:sp>
      <p:cxnSp>
        <p:nvCxnSpPr>
          <p:cNvPr id="51" name=""/>
          <p:cNvCxnSpPr>
            <a:stCxn xmlns:a="http://schemas.openxmlformats.org/drawingml/2006/main" id="4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1847850" y="2543175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FD5FF"/>
            </a:solidFill>
            <a:prstDash val="solid"/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7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3695700" y="2543175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FD5FF"/>
            </a:solidFill>
            <a:prstDash val="soli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10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5543550" y="2543175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FD5FF"/>
            </a:solidFill>
            <a:prstDash val="soli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13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7391400" y="2543175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FD5FF"/>
            </a:solidFill>
            <a:prstDash val="solid"/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16" idx="6"/>
            <a:endCxn xmlns:a="http://schemas.openxmlformats.org/drawingml/2006/main" id="19" idx="2"/>
          </p:cNvCxnSpPr>
          <p:nvPr/>
        </p:nvCxnSpPr>
        <p:spPr>
          <a:xfrm xmlns:a="http://schemas.openxmlformats.org/drawingml/2006/main">
            <a:off x="9239250" y="2543175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FD5FF"/>
            </a:solidFill>
            <a:prstDash val="solid"/>
            <a:tail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58BEE3-C981-47D7-9A44-C0CA32CB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C927F8-C67C-4DB6-A389-F570D0A0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72075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Каждый результат сохраняет связь с исходным вопросом, ревизией транскрипта и решением интервьюера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3ABF62-7F43-464A-9423-D4BCE2C8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A98A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158638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D357DE-0E9F-432B-BBF0-340B4CAF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Live-сессия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8529A-961B-477B-9BC9-415C97EE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9F5AC-A21E-4C7A-B3D2-6E8C4437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Система сохраняет структуру интервью, пока интервьюер ведёт разговор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C2687-BAFC-4968-83ED-736168FC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Аудио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167EC-003D-4734-9917-B486B2C5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190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Интервьюер</a:t>
            </a:r>
          </a:p>
          <a:p xmlns:a="http://schemas.openxmlformats.org/drawingml/2006/main">
            <a:pPr>
              <a:def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микрофон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99C0D-20D4-4176-AD8A-7B637116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190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Кандидат</a:t>
            </a:r>
          </a:p>
          <a:p xmlns:a="http://schemas.openxmlformats.org/drawingml/2006/main">
            <a:pPr>
              <a:def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канал встречи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9F8FC-3A5C-44D8-87ED-F61860B2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28900"/>
            <a:ext cx="2476500" cy="148590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BFD5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Tauri + Rust</a:t>
            </a:r>
          </a:p>
          <a:p xmlns:a="http://schemas.openxmlformats.org/drawingml/2006/main">
            <a:pPr>
              <a:defRPr sz="21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захват и spool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76550" y="2743200"/>
            <a:ext cx="990600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BFD5FF"/>
            </a:solidFill>
            <a:prstDash val="solid"/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876550" y="3371850"/>
            <a:ext cx="990600" cy="609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BFD5FF"/>
            </a:solidFill>
            <a:prstDash val="solid"/>
            <a:tailEnd type="arrow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57BCC-E112-42CC-8262-D15640D0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66900"/>
            <a:ext cx="4095750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466A1-19E0-4197-BE51-E1876776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336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Рабочее пространство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0D257-27AE-4C72-983C-A65B875C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289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0BE9C-982F-4345-8136-3EE5BC95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52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A12C81-AAF2-4FFE-90FD-29F27605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765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Текущий вопрос и план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19CF2-EA1E-4759-AB24-736E7901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E670F7-A1F4-4B1C-A151-894D755F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909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Live-транскрипт с ролями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4A2F3-1D27-461B-96C4-7E6AFFC6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96204-B103-43F9-B24B-61EEE210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052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Уточнения и углубления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E9CDED-B837-4F95-82F4-AD59AC06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DEA0E4-2958-4391-ACA2-0AEEBBAC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196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Предварительная оценка</a:t>
            </a:r>
          </a:p>
        </p:txBody>
      </p: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343650" y="3371850"/>
            <a:ext cx="99060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C192AD-05E2-45E7-B8D8-8A3463F8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7442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9525">
            <a:solidFill>
              <a:srgbClr val="B7E4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8BECF7-DC8B-410D-B8FF-ACBAD05E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6260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49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7490"/>
                </a:solidFill>
                <a:latin typeface="Helvetica Neue"/>
                <a:ea typeface="Helvetica Neue"/>
                <a:cs typeface="Helvetica Neue"/>
              </a:rPr>
              <a:t>Follow-up остаётся предложением: интервьюер решает, задать его, изменить или отклонить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09D5ED-486C-4296-A160-9C0125FC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A98A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346275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C4B3B-92A1-40CF-BC16-BFBBB313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Evidence-based оценивание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67611-B573-4DF6-934A-A3299880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9879D-B6C4-432E-8899-4520F1C1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Рекомендация проходит проверку по исходному транскрипту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2395B-D92C-4777-A926-F2913A36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000750" cy="2990850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ACC96-D8FC-4F33-9C59-A66B03FD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ПРИМЕР ЦИТАТЫ КАНДИДАТА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485E8-406D-4911-A650-3933D3BC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51244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«Для Saga я бы выбрал оркестрацию, если нужен централизованный контроль компенсаций»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73E1E-E1B2-4CF1-8FEF-E26904E3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A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8AA"/>
                </a:solidFill>
                <a:latin typeface="Helvetica Neue"/>
                <a:ea typeface="Helvetica Neue"/>
                <a:cs typeface="Helvetica Neue"/>
              </a:rPr>
              <a:t>segment candidate-014  •  active revision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7293B-E523-47E5-B058-47D31B8C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38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9F6D7-A29C-4D4C-A2E6-C15640D5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19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4D1A5-8B13-41E6-A491-CA64E912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Цитата присутствует дословно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51FE1-6BEE-4814-A405-BE07D759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4D69E0-2313-4AFA-BC39-8F32979C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33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DCD57-F7A9-4A94-8A7E-A087D03E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813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Сегмент принадлежит кандидату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B56AF-B1A9-4DBF-B57F-10F47FC4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67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6F268-AFE4-44E6-847C-C7133AFA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48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14E8B-B0BF-4697-A3F9-8506E8F9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Ревизия транскрипта актуальна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C71E4-CEE6-4BD0-9822-E2AF370E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57750"/>
            <a:ext cx="38100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E9F8F0"/>
          </a:solidFill>
          <a:ln xmlns:a="http://schemas.openxmlformats.org/drawingml/2006/main" w="9525">
            <a:solidFill>
              <a:srgbClr val="B9E9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C9BF8-8FCE-4100-87D0-14E9A1DE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29200"/>
            <a:ext cx="327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Только проверенное предложение</a:t>
            </a:r>
          </a:p>
          <a:p xmlns:a="http://schemas.openxmlformats.org/drawingml/2006/main">
            <a:pPr>
              <a:defRPr sz="142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попадает на ручное ревью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2D537-80BF-4F84-A8CA-DAB1ACDE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A98A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807289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ABECED-E15E-4DEB-9CC5-18F7D630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Контроль человека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426E8-B29D-4442-8DEB-521CD6E3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C8E25-AF05-47B5-88FF-2B07D738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AI помогает анализировать ответ, а правила продукта сохраняют ответственность интервьюера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17EF8-1D30-4342-83C8-189D435A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857500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3D6D9-9923-48B4-BCC0-7F2D1635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AI предлагает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299D3-2DDC-4947-8483-94C6E970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D4CA7-5702-4CE2-A98B-ED333E6F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Баллы по критериям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7FD34-6EDD-448C-B8F9-0B5CF00C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3B4FD-CD43-4456-8CC6-0A73073D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Объяснение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D1413-A0E3-4312-BC9E-DFAC0D34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A2F5C-B62F-44D6-8927-CDE146C1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Точные цитаты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DC978-6C8C-44CF-909D-7862F220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66900"/>
            <a:ext cx="33147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BFD5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9B473-60E5-4DCE-B88B-33C6C961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4790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Интервьюер решает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25CCB-C2F7-4B06-8D48-B596D8B8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D5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1B379-206F-488E-AA34-DDC9E7F1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81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CAC27-832F-4CBA-A51B-0A72AA39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051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Подтвердить или изменить оценку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C3F8B-2C5F-4750-9AD5-C12F1DC2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EE9936-5619-4F07-B6B1-C045DBDF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576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Исправить транскрипт и роли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A3E5B2-4731-401E-8234-65735939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AA1132-D9F1-4411-B6D6-A4A4730D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100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Утвердить summary и решение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59524-7BCA-442C-8342-B7174CCD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71700"/>
            <a:ext cx="2857500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E9F8F0"/>
          </a:solidFill>
          <a:ln xmlns:a="http://schemas.openxmlformats.org/drawingml/2006/main" w="9525">
            <a:solidFill>
              <a:srgbClr val="B9E9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230D7D-6678-4493-8F4A-97A8DA6C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574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Backend считает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30BF1-5471-4FA9-9261-4DDA9A53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81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94C902-5469-4CCC-8DE5-DA3CAC83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051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Вес критериев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12A23-A335-48C9-A918-87CDEB61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787B3D-470A-4A5E-A380-036A0B6C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433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Итоговый score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302A37-3189-468C-99BB-31E47EF7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0833B6-2157-4B5E-9189-86AE7061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814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Coverage плана</a:t>
            </a:r>
          </a:p>
        </p:txBody>
      </p:sp>
      <p:cxnSp>
        <p:nvCxnSpPr>
          <p:cNvPr id="61" name=""/>
          <p:cNvCxnSpPr>
            <a:stCxn xmlns:a="http://schemas.openxmlformats.org/drawingml/2006/main" id="4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543300" y="3305175"/>
            <a:ext cx="895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5FF"/>
            </a:solidFill>
            <a:prstDash val="solid"/>
            <a:tailEnd type="arrow" w="sm" len="sm"/>
          </a:ln>
        </p:spPr>
      </p:cxnSp>
      <p:cxnSp>
        <p:nvCxnSpPr>
          <p:cNvPr id="62" name=""/>
          <p:cNvCxnSpPr>
            <a:stCxn xmlns:a="http://schemas.openxmlformats.org/drawingml/2006/main" id="12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7753350" y="3305175"/>
            <a:ext cx="895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9E9D0"/>
            </a:solidFill>
            <a:prstDash val="solid"/>
            <a:tailEnd type="arrow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3F9589-9C9C-475D-B0BA-FAB459D8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29250"/>
            <a:ext cx="880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Пропущенный вопрос снижает coverage. Система не подставляет автоматический ноль.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D85BA6-A52F-4800-B2D8-FD5AD7AB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A98A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219236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9EAFBC-6416-4AF8-A784-8B8D6D16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Надёжный desktop-конвейер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0EB4B-A1EC-433D-8B90-D8ACBAB5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4FD9B-8628-41D8-8257-329028C6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Запись и обработка сохраняют явные состояния вместо скрытых успешных fallback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E1972-AD0D-470F-AF2C-4281B997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524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Audio capture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B7B50-013F-4065-A93A-2FFDD4A5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66950"/>
            <a:ext cx="1524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Atomic spool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7D4C0-E9F7-409A-976E-788EF8A3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1524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06A96-8CE1-46A7-8C29-42BBEB6F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1524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Job 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DBA78-CC61-4D11-9DCA-D56A0AA8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1524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STT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E6D70-1DCF-45C5-A168-321A3835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66950"/>
            <a:ext cx="1524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BFD5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Transcript revisions</a:t>
            </a:r>
          </a:p>
        </p:txBody>
      </p:sp>
      <p:cxnSp>
        <p:nvCxnSpPr>
          <p:cNvPr id="3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76450" y="26860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5FF"/>
            </a:solidFill>
            <a:prstDash val="solid"/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00500" y="26860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5FF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24550" y="26860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5FF"/>
            </a:solidFill>
            <a:prstDash val="solid"/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848600" y="26860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5FF"/>
            </a:solidFill>
            <a:prstDash val="solid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772650" y="26860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5FF"/>
            </a:solidFill>
            <a:prstDash val="solid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8D91A-E01F-48CB-A4D7-5211F46B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SHA-256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EB919-1F7A-45D9-9FCC-2E2A93E1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Контроль целостности чанков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9EBFB6-D70C-4287-8F1B-32A01A85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43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IDEMPOTENT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DA6153-9A74-49C7-A924-39B19142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243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Безопасная повторная доставка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B258B-BE68-40BE-9F2B-9EFF0F33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43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8E6ED-38AC-45B0-86C8-74F0689F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243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Владение фоновой задачей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3F253-7B8A-431A-9D90-2D597892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OCC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280381-36A4-4ECB-826F-8A643695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243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Защита параллельных правок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A817F2-5FCF-494E-A9B4-D0096B7D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EC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5153CC-58F0-47C6-8EE4-8EB29F80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95925"/>
            <a:ext cx="1024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E123C"/>
                </a:solidFill>
                <a:latin typeface="Helvetica Neue"/>
                <a:ea typeface="Helvetica Neue"/>
                <a:cs typeface="Helvetica Neue"/>
              </a:rPr>
              <a:t>Ошибка провайдера остаётся ошибкой: Nebula не маскирует её выдуманным результатом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83C927-40FD-4C46-B402-64489EC1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A98A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043767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287CC8-F567-4F5E-A0BA-1C83DDB9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Независимые AI-профили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D5D30-26E5-44C5-9999-FEB4DA7D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20E91-9250-4DD0-BF28-A8311807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STT и анализ текста получают собственные модели, URL и подтверждённые capabilities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AC0DE-0BC2-4C81-8A95-BEAC7F6A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476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BFD5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Настройки</a:t>
            </a:r>
          </a:p>
          <a:p xmlns:a="http://schemas.openxmlformats.org/drawingml/2006/main">
            <a:pPr>
              <a:defRPr sz="225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провайдеров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57FAF-27B6-4610-805D-D5EA9E44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47850"/>
            <a:ext cx="6191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3A83E-7267-4C90-BBE4-C3D8CAD4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955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3D99A-592A-4D28-9635-F83CA3F2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provider  •  endpoint  •  model ID  •  language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C82F1-A47E-47E4-851C-5225B6C7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146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Синтетический audio probe подтверждает реальное соединение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BA4D6-96DA-41B7-A737-8AD81A16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95700"/>
            <a:ext cx="619125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A8D1A-0153-4EB5-9A59-9B2FF79A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43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38462-9CAD-43B6-8C5A-DD03FF5C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81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primary model  •  fallback  •  structured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D3558-F476-4D95-9519-26FF792E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625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Reasoning policy и параметры отправляются только после проверки capability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162300" y="2562225"/>
            <a:ext cx="1409700" cy="733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BFD5FF"/>
            </a:solidFill>
            <a:prstDash val="solid"/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62300" y="3295650"/>
            <a:ext cx="140970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BFD5FF"/>
            </a:solidFill>
            <a:prstDash val="solid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D01F9-8958-4C50-BE31-E195B31C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write-only keys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346EF-CB09-4C99-95BB-085EFDFA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49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7490"/>
                </a:solidFill>
                <a:latin typeface="Helvetica Neue"/>
                <a:ea typeface="Helvetica Neue"/>
                <a:cs typeface="Helvetica Neue"/>
              </a:rPr>
              <a:t>versioned config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32ED4-4F7B-4138-9F44-579B34E9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worker hot reload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89688-6099-42D9-99C2-34F0B8AB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A98A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107528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601D1D-01E3-415F-851B-6C2F1DEC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Состояние pilot-контура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AFC54-BA1E-4341-98B9-03D8A49E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E9CC2-6E07-47B6-85D4-32019D44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Реализованные возможности отделены от платформенных и эксплуатационных обещаний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1C539-7BDA-4E40-9D00-B877013E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08635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9F8F0"/>
          </a:solidFill>
          <a:ln xmlns:a="http://schemas.openxmlformats.org/drawingml/2006/main" w="9525">
            <a:solidFill>
              <a:srgbClr val="B9E9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C21FF-3BA7-49D3-8A2F-4634B937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Подтверждено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E6BAD-FB78-412F-BCA0-99703663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31DD6-C925-49BF-9F57-FF32058A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398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Полный desktop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6AEF8-1E09-498A-A787-20CF8948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C7814-CCD3-427D-B875-2F423557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48050"/>
            <a:ext cx="398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Dual-source capture на macOS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D5810-58A0-4C6C-9583-B8E8822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E6F6F-017B-4CDC-A47E-C66BD1D2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398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STT и LLM provider probes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9B5EB-12B7-472D-8F10-220E3042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E52E3-22F8-4D82-A293-18AD0888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398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Автоматическая регрессия всех слоёв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BCB1A-0D68-402F-BD77-3D620DF4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Последняя полная локальная проверка: 16.09.2026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CEC2A-5D3A-4344-8644-DBABB985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85950"/>
            <a:ext cx="508635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D7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ED036C-C1C8-4EC3-8F3F-45EFBCAC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A67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9A6700"/>
                </a:solidFill>
                <a:latin typeface="Helvetica Neue"/>
                <a:ea typeface="Helvetica Neue"/>
                <a:cs typeface="Helvetica Neue"/>
              </a:rPr>
              <a:t>Следующая валидация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E5E18-D3FF-4BB0-886F-9BA56ACD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7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ED28D1-92B3-4D51-B621-EC9BCC74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14650"/>
            <a:ext cx="398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Физические Windows и Linux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1271F9-EA56-4994-AA08-FB7706DC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7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22E0F3-F6AD-4263-BBF6-47B62BCD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48050"/>
            <a:ext cx="398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Production packaging и обновления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F61FD-0C3C-4FFD-A889-E6398372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7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F6F73E-AC93-4CD1-8D22-7238A811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81450"/>
            <a:ext cx="398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Политика хранения и security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4F1EF-ED34-47A8-B229-A8BBBF82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7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BCEC8D-AA08-44F6-82FD-508E03B8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14850"/>
            <a:ext cx="398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Ограниченный пилот с интервьюерами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444B3B-C530-423C-A6F6-9D800FA8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43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A67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A6700"/>
                </a:solidFill>
                <a:latin typeface="Helvetica Neue"/>
                <a:ea typeface="Helvetica Neue"/>
                <a:cs typeface="Helvetica Neue"/>
              </a:rPr>
              <a:t>Качество каждой модели оценивается отдельно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F1F872-4C2E-45CE-B636-68DDC36F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A98AA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63209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83D7F-D167-4113-9DC5-39618C1A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0F0CB-4678-4AAC-848A-4FFFD8D8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Nebula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3FABB-37EA-413C-9C53-BB1830A7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7239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Решение можно</a:t>
            </a:r>
          </a:p>
          <a:p xmlns:a="http://schemas.openxmlformats.org/drawingml/2006/main">
            <a:pPr>
              <a:defRPr sz="46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rPr>
              <a:t>объяснить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0AFE8-0E64-4BE2-B995-99E2D0C3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733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AI ускоряет анализ. Evidence связывает вывод с ответом.</a:t>
            </a:r>
          </a:p>
          <a:p xmlns:a="http://schemas.openxmlformats.org/drawingml/2006/main">
            <a:pPr>
              <a:defRPr sz="20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Интервьюер сохраняет контроль над итогом.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65A2E-3E4F-4483-A42E-CEB6C725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00150"/>
            <a:ext cx="2857500" cy="3676650"/>
          </a:xfrm>
          <a:prstGeom xmlns:a="http://schemas.openxmlformats.org/drawingml/2006/main" prst="roundRect">
            <a:avLst>
              <a:gd name="adj" fmla="val 8667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BFD5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F8C9B-8FCE-4C77-BDCF-9B8AB66A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3830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Следующий шаг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0B98E-C29A-4AD0-8BDC-960AE912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24100"/>
            <a:ext cx="2362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Ограниченный</a:t>
            </a:r>
          </a:p>
          <a:p xmlns:a="http://schemas.openxmlformats.org/drawingml/2006/main">
            <a:pPr>
              <a:defRPr sz="232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пилот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26FF5-A0B9-48C4-BC46-D69B4181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81400"/>
            <a:ext cx="213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Реальные интервью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Обратная связь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334155"/>
                </a:solidFill>
                <a:latin typeface="Helvetica Neue"/>
                <a:ea typeface="Helvetica Neue"/>
                <a:cs typeface="Helvetica Neue"/>
              </a:rPr>
              <a:t>Платформенная валидация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F1BCF-0A12-4BDE-9036-7D48A2E7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670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E680C-DA08-4B87-8F4A-BF854382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AI Interview Decision 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F7FA3-1953-4C12-BA52-A0DF5877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172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nebula</a:t>
            </a:r>
          </a:p>
        </p:txBody>
      </p:sp>
    </p:spTree>
    <p:extLst>
      <p:ext uri="{BB962C8B-B14F-4D97-AF65-F5344CB8AC3E}">
        <p14:creationId xmlns:p14="http://schemas.microsoft.com/office/powerpoint/2010/main" val="821906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2026-09-18T08:02:26.1960000Z</dcterms:created>
  <dcterms:modified xsi:type="dcterms:W3CDTF">2026-09-18T08:02:26.1960000Z</dcterms:modified>
</coreProperties>
</file>